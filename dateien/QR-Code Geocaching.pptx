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4"/>
  </p:sldMasterIdLst>
  <p:notesMasterIdLst>
    <p:notesMasterId r:id="rId13"/>
  </p:notesMasterIdLst>
  <p:sldIdLst>
    <p:sldId id="281" r:id="rId5"/>
    <p:sldId id="282" r:id="rId6"/>
    <p:sldId id="288" r:id="rId7"/>
    <p:sldId id="257" r:id="rId8"/>
    <p:sldId id="283" r:id="rId9"/>
    <p:sldId id="287" r:id="rId10"/>
    <p:sldId id="285" r:id="rId11"/>
    <p:sldId id="286" r:id="rId1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92" autoAdjust="0"/>
    <p:restoredTop sz="94660"/>
  </p:normalViewPr>
  <p:slideViewPr>
    <p:cSldViewPr>
      <p:cViewPr varScale="1">
        <p:scale>
          <a:sx n="86" d="100"/>
          <a:sy n="86" d="100"/>
        </p:scale>
        <p:origin x="126" y="408"/>
      </p:cViewPr>
      <p:guideLst>
        <p:guide orient="horz" pos="107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73680F-EEFA-45E0-9B8C-2E8699DFE88A}" type="datetimeFigureOut">
              <a:rPr lang="pl-PL" smtClean="0"/>
              <a:pPr/>
              <a:t>09.11.2024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435FF2-846B-4C0F-A885-8EB3570A54AF}" type="slidenum">
              <a:rPr lang="pl-PL" smtClean="0"/>
              <a:pPr/>
              <a:t>‹Nr.›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42435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E8802-C05F-4D1E-B723-D3AFF4F706FD}" type="datetime1">
              <a:rPr lang="pl-PL" smtClean="0"/>
              <a:t>09.11.2024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C44C-5637-4567-8246-DE5937193314}" type="slidenum">
              <a:rPr lang="pl-PL" smtClean="0"/>
              <a:pPr/>
              <a:t>‹Nr.›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73093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9DF56-1EA6-4A2F-A992-E74493B37552}" type="datetime1">
              <a:rPr lang="pl-PL" smtClean="0"/>
              <a:t>09.11.2024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C44C-5637-4567-8246-DE5937193314}" type="slidenum">
              <a:rPr lang="pl-PL" smtClean="0"/>
              <a:pPr/>
              <a:t>‹Nr.›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90647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72DE0-2528-46FC-A9D7-6138A46F638A}" type="datetime1">
              <a:rPr lang="pl-PL" smtClean="0"/>
              <a:t>09.11.2024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C44C-5637-4567-8246-DE5937193314}" type="slidenum">
              <a:rPr lang="pl-PL" smtClean="0"/>
              <a:pPr/>
              <a:t>‹Nr.›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98503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3049F-1880-45FA-91C0-D8AF2F9EDC7A}" type="datetime1">
              <a:rPr lang="pl-PL" smtClean="0"/>
              <a:t>09.11.2024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C44C-5637-4567-8246-DE5937193314}" type="slidenum">
              <a:rPr lang="pl-PL" smtClean="0"/>
              <a:pPr/>
              <a:t>‹Nr.›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54704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B8641-862F-4FF7-90E7-DCBD241282F6}" type="datetime1">
              <a:rPr lang="pl-PL" smtClean="0"/>
              <a:t>09.11.2024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C44C-5637-4567-8246-DE5937193314}" type="slidenum">
              <a:rPr lang="pl-PL" smtClean="0"/>
              <a:pPr/>
              <a:t>‹Nr.›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89285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DB7D8-434F-4250-9DDF-F9308C821C1C}" type="datetime1">
              <a:rPr lang="pl-PL" smtClean="0"/>
              <a:t>09.11.2024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C44C-5637-4567-8246-DE5937193314}" type="slidenum">
              <a:rPr lang="pl-PL" smtClean="0"/>
              <a:pPr/>
              <a:t>‹Nr.›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0252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E6511-4988-4AF9-8523-BC5A85003856}" type="datetime1">
              <a:rPr lang="pl-PL" smtClean="0"/>
              <a:t>09.11.2024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C44C-5637-4567-8246-DE5937193314}" type="slidenum">
              <a:rPr lang="pl-PL" smtClean="0"/>
              <a:pPr/>
              <a:t>‹Nr.›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31582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FA8D8-D5C7-407C-8440-EE1C3B277943}" type="datetime1">
              <a:rPr lang="pl-PL" smtClean="0"/>
              <a:t>09.11.2024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C44C-5637-4567-8246-DE5937193314}" type="slidenum">
              <a:rPr lang="pl-PL" smtClean="0"/>
              <a:pPr/>
              <a:t>‹Nr.›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59131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9F922-EF25-46B1-B260-59D0A9A6594E}" type="datetime1">
              <a:rPr lang="pl-PL" smtClean="0"/>
              <a:t>09.11.2024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C44C-5637-4567-8246-DE5937193314}" type="slidenum">
              <a:rPr lang="pl-PL" smtClean="0"/>
              <a:pPr/>
              <a:t>‹Nr.›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1939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1527A-1E97-4A7C-8B87-B043D96A440D}" type="datetime1">
              <a:rPr lang="pl-PL" smtClean="0"/>
              <a:t>09.11.2024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C44C-5637-4567-8246-DE5937193314}" type="slidenum">
              <a:rPr lang="pl-PL" smtClean="0"/>
              <a:pPr/>
              <a:t>‹Nr.›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58048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85150-B009-4755-B704-FBC80C7272FD}" type="datetime1">
              <a:rPr lang="pl-PL" smtClean="0"/>
              <a:t>09.11.2024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C44C-5637-4567-8246-DE5937193314}" type="slidenum">
              <a:rPr lang="pl-PL" smtClean="0"/>
              <a:pPr/>
              <a:t>‹Nr.›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86429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9B3DC-28E3-4F88-B547-F04D6E2BB15B}" type="datetime1">
              <a:rPr lang="pl-PL" smtClean="0"/>
              <a:t>09.11.2024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AC44C-5637-4567-8246-DE5937193314}" type="slidenum">
              <a:rPr lang="pl-PL" smtClean="0"/>
              <a:pPr/>
              <a:t>‹Nr.›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09139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qr.lima.zone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qr.lima.zone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oje-verbund.de/fastenmarsch2021/Fastenmarschheft" TargetMode="External"/><Relationship Id="rId2" Type="http://schemas.openxmlformats.org/officeDocument/2006/relationships/hyperlink" Target="https://boje-verbund.de/fastenmarsch2021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qr.lima.zone/Orte" TargetMode="External"/><Relationship Id="rId4" Type="http://schemas.openxmlformats.org/officeDocument/2006/relationships/hyperlink" Target="https://qr.lima.zone/Karte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12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BjuD7R0E_a4" TargetMode="External"/><Relationship Id="rId11" Type="http://schemas.openxmlformats.org/officeDocument/2006/relationships/image" Target="../media/image20.png"/><Relationship Id="rId5" Type="http://schemas.openxmlformats.org/officeDocument/2006/relationships/image" Target="../media/image16.png"/><Relationship Id="rId10" Type="http://schemas.openxmlformats.org/officeDocument/2006/relationships/hyperlink" Target="https://boje-verbund.de/fastenmarsch2021" TargetMode="External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28.png"/><Relationship Id="rId4" Type="http://schemas.openxmlformats.org/officeDocument/2006/relationships/image" Target="../media/image24.png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991544" y="2068120"/>
            <a:ext cx="9001000" cy="1470025"/>
          </a:xfrm>
        </p:spPr>
        <p:txBody>
          <a:bodyPr>
            <a:normAutofit/>
          </a:bodyPr>
          <a:lstStyle>
            <a:lvl1pPr>
              <a:buFont typeface="Arial" pitchFamily="34" charset="0"/>
              <a:buChar char="•"/>
            </a:lvl1pPr>
            <a:lvl2pPr>
              <a:buFont typeface="Arial" pitchFamily="34" charset="0"/>
              <a:buChar char="–"/>
            </a:lvl2pPr>
            <a:lvl3pPr>
              <a:buFont typeface="Arial" pitchFamily="34" charset="0"/>
              <a:buChar char="•"/>
            </a:lvl3pPr>
            <a:lvl4pPr>
              <a:buFont typeface="Arial" pitchFamily="34" charset="0"/>
              <a:buChar char="–"/>
            </a:lvl4pPr>
            <a:lvl5pPr>
              <a:buFont typeface="Arial" pitchFamily="34" charset="0"/>
              <a:buChar char="»"/>
            </a:lvl5pPr>
            <a:lvl6pPr>
              <a:buFont typeface="Arial" pitchFamily="34" charset="0"/>
              <a:buChar char="•"/>
            </a:lvl6pPr>
            <a:lvl7pPr>
              <a:buFont typeface="Arial" pitchFamily="34" charset="0"/>
              <a:buChar char="•"/>
            </a:lvl7pPr>
            <a:lvl8pPr>
              <a:buFont typeface="Arial" pitchFamily="34" charset="0"/>
              <a:buChar char="•"/>
            </a:lvl8pPr>
            <a:lvl9pPr>
              <a:buFont typeface="Arial" pitchFamily="34" charset="0"/>
              <a:buChar char="•"/>
            </a:lvl9pPr>
          </a:lstStyle>
          <a:p>
            <a:pPr marL="342900" indent="-342900" algn="l"/>
            <a:r>
              <a:rPr lang="de-DE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Vorschlag basiert auf den Corona Fastenmarsch 2021 im nördlichen Emsland</a:t>
            </a:r>
          </a:p>
          <a:p>
            <a:pPr marL="342900" indent="-342900" algn="l"/>
            <a:r>
              <a:rPr lang="de-DE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Teilnehmer suchen während des Aktionszeitraums ähnlich dem Geocaching geheimnisvolle Orte auf, scannen vor Ort die QR-Codes, notieren die digitalen 4-stelligen Zeitstempel im Aktionsheft oder fügen sie ihrem Benutzerprofil hinzu</a:t>
            </a:r>
          </a:p>
          <a:p>
            <a:pPr marL="342900" indent="-342900" algn="l"/>
            <a:r>
              <a:rPr lang="de-DE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andere Teilnehmer oder Sponsoren können die Ergebnisse überprüfen</a:t>
            </a:r>
          </a:p>
          <a:p>
            <a:pPr marL="342900" indent="-342900" algn="l"/>
            <a:endParaRPr lang="de-DE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ytuł 1">
            <a:extLst>
              <a:ext uri="{FF2B5EF4-FFF2-40B4-BE49-F238E27FC236}">
                <a16:creationId xmlns:a16="http://schemas.microsoft.com/office/drawing/2014/main" id="{BB9371B7-3061-377B-AAC7-199D16C66BD7}"/>
              </a:ext>
            </a:extLst>
          </p:cNvPr>
          <p:cNvSpPr txBox="1">
            <a:spLocks/>
          </p:cNvSpPr>
          <p:nvPr/>
        </p:nvSpPr>
        <p:spPr>
          <a:xfrm>
            <a:off x="1559496" y="171355"/>
            <a:ext cx="842493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600" b="1" dirty="0">
                <a:latin typeface="Arial" panose="020B0604020202020204" pitchFamily="34" charset="0"/>
                <a:cs typeface="Arial" panose="020B0604020202020204" pitchFamily="34" charset="0"/>
              </a:rPr>
              <a:t>Geocaching mit QR-Codes</a:t>
            </a:r>
            <a:endParaRPr lang="pl-PL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" name="Grafik 32">
            <a:extLst>
              <a:ext uri="{FF2B5EF4-FFF2-40B4-BE49-F238E27FC236}">
                <a16:creationId xmlns:a16="http://schemas.microsoft.com/office/drawing/2014/main" id="{E8123709-C146-2F04-687A-34EADB3D9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8" y="3530071"/>
            <a:ext cx="2448735" cy="1913881"/>
          </a:xfrm>
          <a:prstGeom prst="rect">
            <a:avLst/>
          </a:prstGeom>
          <a:effectLst>
            <a:outerShdw blurRad="190500" algn="ctr" rotWithShape="0">
              <a:srgbClr val="000000">
                <a:alpha val="70000"/>
              </a:srgbClr>
            </a:outerShdw>
          </a:effectLst>
        </p:spPr>
      </p:pic>
      <p:sp>
        <p:nvSpPr>
          <p:cNvPr id="38" name="Foliennummernplatzhalter 37">
            <a:extLst>
              <a:ext uri="{FF2B5EF4-FFF2-40B4-BE49-F238E27FC236}">
                <a16:creationId xmlns:a16="http://schemas.microsoft.com/office/drawing/2014/main" id="{7D83CC6C-54A9-CF5D-A2BC-A908DC7A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C44C-5637-4567-8246-DE5937193314}" type="slidenum">
              <a:rPr lang="pl-PL" smtClean="0"/>
              <a:pPr/>
              <a:t>1</a:t>
            </a:fld>
            <a:endParaRPr lang="pl-PL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3D43F7A-AF92-EACC-B6F3-4783DC86DDE2}"/>
              </a:ext>
            </a:extLst>
          </p:cNvPr>
          <p:cNvSpPr txBox="1"/>
          <p:nvPr/>
        </p:nvSpPr>
        <p:spPr>
          <a:xfrm>
            <a:off x="3348831" y="3537804"/>
            <a:ext cx="2048959" cy="923330"/>
          </a:xfrm>
          <a:prstGeom prst="rect">
            <a:avLst/>
          </a:prstGeom>
          <a:noFill/>
          <a:effectLst>
            <a:outerShdw blurRad="190500" algn="ctr" rotWithShape="0">
              <a:srgbClr val="000000">
                <a:alpha val="70000"/>
              </a:srgb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de-DE" b="1" dirty="0"/>
              <a:t>Demoversion</a:t>
            </a:r>
          </a:p>
          <a:p>
            <a:pPr algn="ctr"/>
            <a:r>
              <a:rPr lang="de-DE" dirty="0">
                <a:hlinkClick r:id="rId3"/>
              </a:rPr>
              <a:t>https://qr.lima.zone</a:t>
            </a:r>
            <a:endParaRPr lang="de-DE" dirty="0"/>
          </a:p>
          <a:p>
            <a:pPr algn="ctr"/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AB333D1-E77F-E46E-F34C-35ABDCB2B0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7775" y="3610033"/>
            <a:ext cx="5449337" cy="2195231"/>
          </a:xfrm>
          <a:prstGeom prst="rect">
            <a:avLst/>
          </a:prstGeom>
          <a:effectLst>
            <a:outerShdw blurRad="190500" algn="ctr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0399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afik 31">
            <a:extLst>
              <a:ext uri="{FF2B5EF4-FFF2-40B4-BE49-F238E27FC236}">
                <a16:creationId xmlns:a16="http://schemas.microsoft.com/office/drawing/2014/main" id="{A0715D3E-CC4F-68C2-76A8-07DB98500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7461" y="4834755"/>
            <a:ext cx="1581371" cy="838317"/>
          </a:xfrm>
          <a:prstGeom prst="rect">
            <a:avLst/>
          </a:prstGeom>
          <a:effectLst/>
        </p:spPr>
      </p:pic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991544" y="116632"/>
            <a:ext cx="8219256" cy="720080"/>
          </a:xfrm>
        </p:spPr>
        <p:txBody>
          <a:bodyPr>
            <a:normAutofit fontScale="90000"/>
          </a:bodyPr>
          <a:lstStyle/>
          <a:p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So ging es 2021 - Anleitung für Teilnehmer</a:t>
            </a:r>
            <a:endParaRPr lang="pl-PL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51384" y="836712"/>
            <a:ext cx="10945216" cy="561662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Besorg dir ein Aktionsheft, in dem sich deine Sponsoren eintragen und sich verpflichten für jeden von dir gefundenen Ort oder pauschal einen Beitrag zu spenden.</a:t>
            </a:r>
          </a:p>
          <a:p>
            <a:pPr marL="514350" indent="-514350">
              <a:buFont typeface="+mj-lt"/>
              <a:buAutoNum type="arabicPeriod"/>
            </a:pPr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Besuch im Aktionszeitraum möglichst viele geheimnisvollen Orte im Aktionsheft bzw. auf der Karte in beliebiger Reihenfolge.</a:t>
            </a:r>
          </a:p>
          <a:p>
            <a:pPr marL="514350" indent="-514350">
              <a:buFont typeface="+mj-lt"/>
              <a:buAutoNum type="arabicPeriod"/>
            </a:pPr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Scanne den vor Ort gefundenen QR-Code und du wirst auf eine individuelle Seite mit Informationen über den Ort weitergeleitet.</a:t>
            </a:r>
          </a:p>
          <a:p>
            <a:pPr marL="514350" indent="-514350">
              <a:buFont typeface="+mj-lt"/>
              <a:buAutoNum type="arabicPeriod"/>
            </a:pPr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Oben auf der Seite wird dir dein persönlicher 4-stelliger Zeitstempel angezeigt wie z. B.                .</a:t>
            </a:r>
          </a:p>
          <a:p>
            <a:pPr marL="514350" indent="-514350">
              <a:buFont typeface="+mj-lt"/>
              <a:buAutoNum type="arabicPeriod"/>
            </a:pPr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Notiere den Zeitstempel beim jeweiligen Ort als Nachweis für deine Sponsoren, die die Zeitstempel / Ort – Kombinationen auf der Internetseite überprüfen können</a:t>
            </a:r>
          </a:p>
          <a:p>
            <a:pPr marL="514350" indent="-514350">
              <a:buFont typeface="+mj-lt"/>
              <a:buAutoNum type="arabicPeriod"/>
            </a:pPr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Optionale Funktion: Wenn du willst kannst du deine Zeitstempel online verwalten. Denk dir hierzu einfach einen mindestens 8-stelligen geheimen Benutzernamen mit mindestens einer Zahl aus. Übertrage die Zeitstempel in dein Aktionsheft.</a:t>
            </a:r>
          </a:p>
          <a:p>
            <a:pPr marL="0" indent="0">
              <a:buNone/>
            </a:pPr>
            <a:endParaRPr lang="de-DE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151F257-9643-E774-56F4-43F9D2613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246" y="3459669"/>
            <a:ext cx="1790950" cy="1267002"/>
          </a:xfrm>
          <a:prstGeom prst="rect">
            <a:avLst/>
          </a:prstGeom>
          <a:effectLst>
            <a:outerShdw blurRad="190500" algn="ctr" rotWithShape="0">
              <a:srgbClr val="000000">
                <a:alpha val="70000"/>
              </a:srgbClr>
            </a:outerShdw>
          </a:effec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FC2B83D-EFE3-8084-5BE6-E913EAD3E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560" y="4959471"/>
            <a:ext cx="1581371" cy="838317"/>
          </a:xfrm>
          <a:prstGeom prst="rect">
            <a:avLst/>
          </a:prstGeom>
          <a:effectLst/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8090F2D-7B7F-6484-7578-8C7B79EB71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380" y="4836736"/>
            <a:ext cx="1070112" cy="1098397"/>
          </a:xfrm>
          <a:prstGeom prst="rect">
            <a:avLst/>
          </a:prstGeom>
          <a:effectLst/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9DC98382-3518-1C85-4E00-32B9BB4603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0450" y="3429000"/>
            <a:ext cx="1714739" cy="1343212"/>
          </a:xfrm>
          <a:prstGeom prst="rect">
            <a:avLst/>
          </a:prstGeom>
          <a:effectLst>
            <a:outerShdw blurRad="190500" algn="ctr" rotWithShape="0">
              <a:srgbClr val="000000">
                <a:alpha val="70000"/>
              </a:srgbClr>
            </a:outerShdw>
          </a:effectLst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D8B3A1C0-E051-B02A-E241-B01C84E030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2691" y="3379065"/>
            <a:ext cx="1502146" cy="2575751"/>
          </a:xfrm>
          <a:prstGeom prst="rect">
            <a:avLst/>
          </a:prstGeom>
          <a:effectLst/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622279C6-241F-C52E-D8F2-146579E0D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2672" y="3442901"/>
            <a:ext cx="1790950" cy="1267002"/>
          </a:xfrm>
          <a:prstGeom prst="rect">
            <a:avLst/>
          </a:prstGeom>
          <a:effectLst>
            <a:outerShdw blurRad="190500" algn="ctr" rotWithShape="0">
              <a:srgbClr val="000000">
                <a:alpha val="70000"/>
              </a:srgbClr>
            </a:outerShdw>
          </a:effectLst>
        </p:spPr>
      </p:pic>
      <p:sp>
        <p:nvSpPr>
          <p:cNvPr id="26" name="Textfeld 25">
            <a:extLst>
              <a:ext uri="{FF2B5EF4-FFF2-40B4-BE49-F238E27FC236}">
                <a16:creationId xmlns:a16="http://schemas.microsoft.com/office/drawing/2014/main" id="{80B2A15A-ACE1-0292-DE7F-B04FA86ABA3F}"/>
              </a:ext>
            </a:extLst>
          </p:cNvPr>
          <p:cNvSpPr txBox="1"/>
          <p:nvPr/>
        </p:nvSpPr>
        <p:spPr>
          <a:xfrm>
            <a:off x="1519290" y="5949280"/>
            <a:ext cx="20307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Heft besorgen</a:t>
            </a:r>
          </a:p>
          <a:p>
            <a:pPr algn="ctr"/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Sponsoren suchen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0676F467-17AA-027B-D2EA-DC1194E29F4F}"/>
              </a:ext>
            </a:extLst>
          </p:cNvPr>
          <p:cNvSpPr txBox="1"/>
          <p:nvPr/>
        </p:nvSpPr>
        <p:spPr>
          <a:xfrm>
            <a:off x="3994757" y="5949280"/>
            <a:ext cx="21050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viele Orte besuchen </a:t>
            </a:r>
            <a:b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und QR-Codes scannen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D44261C5-1483-1DC5-21E9-3D7EE9692C0E}"/>
              </a:ext>
            </a:extLst>
          </p:cNvPr>
          <p:cNvSpPr txBox="1"/>
          <p:nvPr/>
        </p:nvSpPr>
        <p:spPr>
          <a:xfrm>
            <a:off x="6743014" y="5949280"/>
            <a:ext cx="11095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Zeitstempel</a:t>
            </a:r>
            <a:b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ablesen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E4065D76-2E29-9737-0FE1-2AAB28053878}"/>
              </a:ext>
            </a:extLst>
          </p:cNvPr>
          <p:cNvSpPr txBox="1"/>
          <p:nvPr/>
        </p:nvSpPr>
        <p:spPr>
          <a:xfrm>
            <a:off x="8147608" y="5949280"/>
            <a:ext cx="38859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Zeitstempel als Nachweis </a:t>
            </a:r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notieren, nach der Aktion Sponsoren auf Spenden hinweisen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247A0D49-627E-7C8E-B42B-2D55FD5B7B52}"/>
              </a:ext>
            </a:extLst>
          </p:cNvPr>
          <p:cNvCxnSpPr>
            <a:cxnSpLocks/>
          </p:cNvCxnSpPr>
          <p:nvPr/>
        </p:nvCxnSpPr>
        <p:spPr>
          <a:xfrm>
            <a:off x="7338460" y="3885968"/>
            <a:ext cx="1900436" cy="1168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93485675-A166-3C7D-FAC7-E9439635FA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4285" y="1781710"/>
            <a:ext cx="642521" cy="351145"/>
          </a:xfrm>
          <a:prstGeom prst="rect">
            <a:avLst/>
          </a:prstGeom>
        </p:spPr>
      </p:pic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53CDFE62-D197-37C6-1FA6-6F0C5F2D9AA5}"/>
              </a:ext>
            </a:extLst>
          </p:cNvPr>
          <p:cNvCxnSpPr>
            <a:cxnSpLocks/>
          </p:cNvCxnSpPr>
          <p:nvPr/>
        </p:nvCxnSpPr>
        <p:spPr>
          <a:xfrm>
            <a:off x="2351584" y="6597352"/>
            <a:ext cx="792088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fik 7">
            <a:extLst>
              <a:ext uri="{FF2B5EF4-FFF2-40B4-BE49-F238E27FC236}">
                <a16:creationId xmlns:a16="http://schemas.microsoft.com/office/drawing/2014/main" id="{A3F16610-A0BA-8168-81C2-C4806DD149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6852" y="5280121"/>
            <a:ext cx="567996" cy="310416"/>
          </a:xfrm>
          <a:prstGeom prst="rect">
            <a:avLst/>
          </a:prstGeom>
        </p:spPr>
      </p:pic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0E8ED6C3-A443-321C-AB56-7E5FB9673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C44C-5637-4567-8246-DE5937193314}" type="slidenum">
              <a:rPr lang="pl-PL" smtClean="0"/>
              <a:pPr/>
              <a:t>2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961048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991544" y="116632"/>
            <a:ext cx="8219256" cy="720080"/>
          </a:xfrm>
        </p:spPr>
        <p:txBody>
          <a:bodyPr>
            <a:normAutofit/>
          </a:bodyPr>
          <a:lstStyle/>
          <a:p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Screenshots https://qr.lima.zone</a:t>
            </a:r>
            <a:endParaRPr lang="pl-PL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0E8ED6C3-A443-321C-AB56-7E5FB9673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C44C-5637-4567-8246-DE5937193314}" type="slidenum">
              <a:rPr lang="pl-PL" smtClean="0"/>
              <a:pPr/>
              <a:t>3</a:t>
            </a:fld>
            <a:endParaRPr lang="pl-PL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DE29A344-6360-554B-3369-B97317163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1401300"/>
            <a:ext cx="5449337" cy="2195231"/>
          </a:xfrm>
          <a:prstGeom prst="rect">
            <a:avLst/>
          </a:prstGeom>
          <a:effectLst>
            <a:outerShdw blurRad="190500" algn="ctr" rotWithShape="0">
              <a:srgbClr val="000000">
                <a:alpha val="70000"/>
              </a:srgbClr>
            </a:outerShdw>
          </a:effectLst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3D1243A6-76E7-DBCB-70FB-122FEEF69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464" y="3971225"/>
            <a:ext cx="3920475" cy="2349952"/>
          </a:xfrm>
          <a:prstGeom prst="rect">
            <a:avLst/>
          </a:prstGeom>
          <a:effectLst>
            <a:outerShdw blurRad="190500" algn="ctr" rotWithShape="0">
              <a:srgbClr val="000000">
                <a:alpha val="70000"/>
              </a:srgbClr>
            </a:outerShdw>
          </a:effectLst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D4438BBD-5AB9-E937-2D7E-55FF88B279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1741" y="2246959"/>
            <a:ext cx="5515745" cy="3448531"/>
          </a:xfrm>
          <a:prstGeom prst="rect">
            <a:avLst/>
          </a:prstGeom>
          <a:effectLst>
            <a:outerShdw blurRad="190500" algn="ctr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29365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991544" y="116632"/>
            <a:ext cx="8784976" cy="720080"/>
          </a:xfrm>
        </p:spPr>
        <p:txBody>
          <a:bodyPr>
            <a:normAutofit/>
          </a:bodyPr>
          <a:lstStyle/>
          <a:p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Weitere Details – für das Organisationsteam</a:t>
            </a:r>
            <a:endParaRPr lang="pl-PL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271464" y="836712"/>
            <a:ext cx="9937104" cy="561662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endParaRPr lang="de-DE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 ist eine Art Geocaching, wo geheimnisvolle oder interessante Orte gefunden werden müssen</a:t>
            </a:r>
          </a:p>
          <a:p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 Orte werden vom Organisationsteam ausgewählt</a:t>
            </a:r>
          </a:p>
          <a:p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Anzahl und Entfernungen variieren</a:t>
            </a:r>
          </a:p>
          <a:p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alle Orte zu besuchen, sollte eine wirkliche Herausforderung sein</a:t>
            </a:r>
          </a:p>
          <a:p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 Aktion sollte mindestens 20 und kann maximal 89 QR-Codes an unterschiedlichen Orten umfassen</a:t>
            </a:r>
          </a:p>
          <a:p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 Demoversion </a:t>
            </a:r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https://qr.lima.zone</a:t>
            </a:r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enthält als Demo 5 Orte auf der Festungsanlage </a:t>
            </a:r>
            <a:r>
              <a:rPr lang="de-DE" sz="1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Bourtange</a:t>
            </a:r>
            <a:endParaRPr lang="de-DE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de-DE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 Corona Fastenmarsch im nördlichen Emsland umfasste 48 QR-Codes (Fastenmarsch-Stationen)</a:t>
            </a:r>
          </a:p>
          <a:p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 Fläche hatte eine Ausdehnung von etwa 30 x 30 km, Teilnehmer haben vor allen das Fahrrad genutzt</a:t>
            </a:r>
          </a:p>
          <a:p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nur sehr wenige Teilnehmer haben während der Fastenzeit tatsächlich alle 48 Orte besucht, beim Besuch aller Orte gab es zusätzlich einen Preis zu gewinnen, Beispiel-Gesamtfahrstrecke bei 48 Orten war 470 km an 8 Tagen</a:t>
            </a:r>
          </a:p>
          <a:p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 Fastenmarsch im nördlichen Emsland ist jedes Jahr eine der größten Misereor Fastenaktionen, im Jahr 2021 nahmen einigen Hundert Teilnehmer teil und es wurden insgesamt 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21.292,91</a:t>
            </a:r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€ gespendet</a:t>
            </a:r>
          </a:p>
          <a:p>
            <a:pPr marL="514350" indent="-514350">
              <a:buFont typeface="+mj-lt"/>
              <a:buAutoNum type="arabicPeriod"/>
            </a:pPr>
            <a:endParaRPr lang="de-DE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de-DE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de-DE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7" name="Grafik 36">
            <a:extLst>
              <a:ext uri="{FF2B5EF4-FFF2-40B4-BE49-F238E27FC236}">
                <a16:creationId xmlns:a16="http://schemas.microsoft.com/office/drawing/2014/main" id="{46770DF9-C66A-CA3B-9613-8168CC4FB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040" y="4910741"/>
            <a:ext cx="1256960" cy="1207343"/>
          </a:xfrm>
          <a:prstGeom prst="rect">
            <a:avLst/>
          </a:prstGeom>
          <a:effectLst>
            <a:outerShdw blurRad="190500" algn="ctr" rotWithShape="0">
              <a:srgbClr val="000000">
                <a:alpha val="70000"/>
              </a:srgbClr>
            </a:outerShdw>
          </a:effectLst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8E173924-624E-3B01-6DB9-19E03B2754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3031" y="5055471"/>
            <a:ext cx="2831001" cy="917884"/>
          </a:xfrm>
          <a:prstGeom prst="rect">
            <a:avLst/>
          </a:prstGeom>
          <a:effectLst>
            <a:outerShdw blurRad="190500" algn="ctr" rotWithShape="0">
              <a:srgbClr val="000000">
                <a:alpha val="70000"/>
              </a:srgbClr>
            </a:outerShdw>
          </a:effectLst>
        </p:spPr>
      </p:pic>
      <p:sp>
        <p:nvSpPr>
          <p:cNvPr id="47" name="Foliennummernplatzhalter 46">
            <a:extLst>
              <a:ext uri="{FF2B5EF4-FFF2-40B4-BE49-F238E27FC236}">
                <a16:creationId xmlns:a16="http://schemas.microsoft.com/office/drawing/2014/main" id="{8303BF7C-8F70-A0FB-A7D6-2570715AD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C44C-5637-4567-8246-DE5937193314}" type="slidenum">
              <a:rPr lang="pl-PL" smtClean="0"/>
              <a:pPr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36716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991544" y="116632"/>
            <a:ext cx="8219256" cy="720080"/>
          </a:xfrm>
        </p:spPr>
        <p:txBody>
          <a:bodyPr>
            <a:normAutofit/>
          </a:bodyPr>
          <a:lstStyle/>
          <a:p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Benötigte Komponenten (1/2)</a:t>
            </a:r>
            <a:endParaRPr lang="pl-PL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695400" y="836712"/>
            <a:ext cx="10729192" cy="5760640"/>
          </a:xfrm>
        </p:spPr>
        <p:txBody>
          <a:bodyPr>
            <a:normAutofit/>
          </a:bodyPr>
          <a:lstStyle/>
          <a:p>
            <a:r>
              <a:rPr lang="de-DE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Flyer, Presse, Werbung und Internetseite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Flyer, Presse und Werbung verweisen auf die Internetseite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Fastenmarsch 2021: </a:t>
            </a:r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https://boje-verbund.de/fastenmarsch2021</a:t>
            </a:r>
            <a:b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e-DE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Aktionsheft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jeder Teilnehmer benötigt das Aktionsheft vorab, um Sponsor*innen für die Fastenaktion zu gewinnen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Fastenmarschheft 2021: </a:t>
            </a:r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https://boje-verbund.de/fastenmarsch2021/Fastenmarschheft</a:t>
            </a:r>
            <a:endParaRPr lang="de-DE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de-DE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Auswahl von Orten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Festlegung eines Namens und optional eines Hinweises für jeden Ort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Ermittlung der GPS-Koordinaten zur Anzeige auf der Karte bzw. für die Smartphone-Navigation (Software wird bereitgestellt)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 sollten für jeden Ort Text und/oder Bilder zusammengestellt werden, um den Ort kurz zu beschreiben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alle Informationen werden über sehr einfache HTML-Mechanismen in die Software eingebunden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Demo 5 Orte auf der Festung </a:t>
            </a:r>
            <a:r>
              <a:rPr lang="de-DE" sz="1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Bourtange</a:t>
            </a:r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https://qr.lima.zone/Karte</a:t>
            </a:r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oder </a:t>
            </a:r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https://qr.lima.zone/Orte</a:t>
            </a:r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de-DE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HTML/CSS/PHP-Software kann auf jeden Webspace (Unterordner, Subdomain, Domain) entpackt werden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Webserver muss PHP und </a:t>
            </a:r>
            <a:r>
              <a:rPr lang="de-DE" sz="1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Rewrite</a:t>
            </a:r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unterstützen (Standard), eine Datenbank wird nicht eingesetzt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Verwendung relativer Links, Anpassungen der Internetadressen sind nicht notwendig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 QR-Codes für Orte, die Zeitstempel für den Besuch, die Liste mit den Orten und die Karte werden automatisch erzeugt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Admin-Teil der Software ermöglicht die Berechnung beliebiger Zeitstempel bei evtl. Rückfragen von Teilnehmern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0984672-1E4E-4518-7350-77715B467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C44C-5637-4567-8246-DE5937193314}" type="slidenum">
              <a:rPr lang="pl-PL" smtClean="0"/>
              <a:pPr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92304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991544" y="116632"/>
            <a:ext cx="8219256" cy="720080"/>
          </a:xfrm>
        </p:spPr>
        <p:txBody>
          <a:bodyPr>
            <a:normAutofit/>
          </a:bodyPr>
          <a:lstStyle/>
          <a:p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Benötigte Komponenten (2/2)</a:t>
            </a:r>
            <a:endParaRPr lang="pl-PL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07368" y="836712"/>
            <a:ext cx="11175032" cy="561662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e-DE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jedem Ort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 QR-Codes müssen ausgedruckt und zum Start der Geocaching Aktion am jeweiligen Ort aufgehangen oder versteckt werden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 Ausdruck mit dem QR-Code kann individualisiert werden, es reicht ein kleiner QR-Code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 QR-Codes müssen im Aktionszeitraum regelmäßig darauf kontrolliert werden, dass sie nicht entwendet wurden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werden QR-Codes z. B. in Schaukästen aufgehangen, können zusätzliche Flyer auf die Aktion hinweisen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 Orte können wie beim Geocaching durch z. B. Logbücher, Tauschen von Gegenständen, Aufforderung zu Bewegungsaktionen usw. vor allen für Kinder interessanter gestaltet werden</a:t>
            </a:r>
          </a:p>
          <a:p>
            <a:pPr marL="457200" lvl="1" indent="0">
              <a:buNone/>
            </a:pPr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de-DE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Teilnehmer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 Teilnehmer sollten früh z. B. über Flyer auf die Aktion hingewiesen werden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sie benötigen nur das Aktionsheft, ein Smartphone mit mobilen Internetzugriff sowie einen Stift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QR-Codes werden von modernen Smartphones direkt per Kamera gescannt, für ältere Smartphones ist evtl. eine eigene App notwendig auf die gesondert verwiesen werden kann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 wird keine eigene App für die Aktion verwendet, zum Einsatz kommt der Browser im Smartphone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 Navigation erfolgt aufgrund der angegebenen Adresse oder der GPS-Koordinate, es können </a:t>
            </a:r>
            <a:r>
              <a:rPr lang="de-DE" sz="1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Navigations</a:t>
            </a:r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Apps wie Google Maps verwendet werden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optional können die Zeitstempel online direkt in der Anwendung mit einem 8-stelligen Benutzernamen gespeichert werden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 Funktion der Benutzerverwaltung kann auch vollständig entfernt werden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D525D47-DADF-AA5E-8880-ACCA48520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C44C-5637-4567-8246-DE5937193314}" type="slidenum">
              <a:rPr lang="pl-PL" smtClean="0"/>
              <a:pPr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88016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B1FDFE48-DEFA-5ACB-538B-730B216CD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370" y="1456705"/>
            <a:ext cx="2209651" cy="2564391"/>
          </a:xfrm>
          <a:prstGeom prst="rect">
            <a:avLst/>
          </a:prstGeom>
          <a:effectLst>
            <a:outerShdw blurRad="190500" algn="ctr" rotWithShape="0">
              <a:srgbClr val="000000">
                <a:alpha val="70000"/>
              </a:srgbClr>
            </a:outerShdw>
          </a:effectLst>
        </p:spPr>
      </p:pic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2207568" y="188640"/>
            <a:ext cx="8219256" cy="720080"/>
          </a:xfrm>
        </p:spPr>
        <p:txBody>
          <a:bodyPr>
            <a:noAutofit/>
          </a:bodyPr>
          <a:lstStyle/>
          <a:p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Fastenmarsch 2021</a:t>
            </a:r>
            <a:b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im nördlichen Emsland (1/2)</a:t>
            </a:r>
            <a:endParaRPr lang="pl-PL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84151697-BB43-0847-759F-E09E504AC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58" y="1076425"/>
            <a:ext cx="1815797" cy="1842019"/>
          </a:xfrm>
          <a:prstGeom prst="rect">
            <a:avLst/>
          </a:prstGeom>
          <a:effectLst>
            <a:outerShdw blurRad="190500" algn="ctr" rotWithShape="0">
              <a:srgbClr val="000000">
                <a:alpha val="70000"/>
              </a:srgbClr>
            </a:outerShdw>
          </a:effectLst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2E664FEE-5972-5FEE-62C2-8FFC68A19D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7092" y="1069351"/>
            <a:ext cx="1969948" cy="2700794"/>
          </a:xfrm>
          <a:prstGeom prst="rect">
            <a:avLst/>
          </a:prstGeom>
          <a:effectLst>
            <a:outerShdw blurRad="190500" algn="ctr" rotWithShape="0">
              <a:srgbClr val="000000">
                <a:alpha val="70000"/>
              </a:srgbClr>
            </a:outerShdw>
          </a:effectLst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7D444AD1-0BC5-123A-D0FF-08C56184D9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5646" y="3407934"/>
            <a:ext cx="1333686" cy="371527"/>
          </a:xfrm>
          <a:prstGeom prst="rect">
            <a:avLst/>
          </a:prstGeom>
        </p:spPr>
      </p:pic>
      <p:sp>
        <p:nvSpPr>
          <p:cNvPr id="43" name="Textfeld 42">
            <a:extLst>
              <a:ext uri="{FF2B5EF4-FFF2-40B4-BE49-F238E27FC236}">
                <a16:creationId xmlns:a16="http://schemas.microsoft.com/office/drawing/2014/main" id="{C8DD8402-02C1-8E43-8159-DFD0F6FAE591}"/>
              </a:ext>
            </a:extLst>
          </p:cNvPr>
          <p:cNvSpPr txBox="1"/>
          <p:nvPr/>
        </p:nvSpPr>
        <p:spPr>
          <a:xfrm>
            <a:off x="771985" y="3751939"/>
            <a:ext cx="33355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6"/>
              </a:rPr>
              <a:t>https://www.youtube.com/watch?v=BjuD7R0E_a4</a:t>
            </a:r>
            <a:endParaRPr lang="de-DE" sz="1000" dirty="0"/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8159E426-1B28-7D55-1284-A9554FD220E1}"/>
              </a:ext>
            </a:extLst>
          </p:cNvPr>
          <p:cNvSpPr txBox="1"/>
          <p:nvPr/>
        </p:nvSpPr>
        <p:spPr>
          <a:xfrm>
            <a:off x="1630204" y="3039661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Flyer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963730B6-BEEC-D426-D1C6-4C996EF90E94}"/>
              </a:ext>
            </a:extLst>
          </p:cNvPr>
          <p:cNvSpPr txBox="1"/>
          <p:nvPr/>
        </p:nvSpPr>
        <p:spPr>
          <a:xfrm>
            <a:off x="5123859" y="4189949"/>
            <a:ext cx="16161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Fastenmarschheft</a:t>
            </a:r>
          </a:p>
        </p:txBody>
      </p:sp>
      <p:pic>
        <p:nvPicPr>
          <p:cNvPr id="49" name="Grafik 48">
            <a:extLst>
              <a:ext uri="{FF2B5EF4-FFF2-40B4-BE49-F238E27FC236}">
                <a16:creationId xmlns:a16="http://schemas.microsoft.com/office/drawing/2014/main" id="{B9109FB4-8069-8047-3A81-DC8D827253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2304" y="1244625"/>
            <a:ext cx="1698480" cy="2079415"/>
          </a:xfrm>
          <a:prstGeom prst="rect">
            <a:avLst/>
          </a:prstGeom>
          <a:effectLst>
            <a:outerShdw blurRad="50800" algn="ctr" rotWithShape="0">
              <a:srgbClr val="000000">
                <a:alpha val="70000"/>
              </a:srgbClr>
            </a:outerShdw>
          </a:effectLst>
        </p:spPr>
      </p:pic>
      <p:sp>
        <p:nvSpPr>
          <p:cNvPr id="50" name="Textfeld 49">
            <a:extLst>
              <a:ext uri="{FF2B5EF4-FFF2-40B4-BE49-F238E27FC236}">
                <a16:creationId xmlns:a16="http://schemas.microsoft.com/office/drawing/2014/main" id="{0D759001-3F28-8C48-F891-A34C67CCD05F}"/>
              </a:ext>
            </a:extLst>
          </p:cNvPr>
          <p:cNvSpPr txBox="1"/>
          <p:nvPr/>
        </p:nvSpPr>
        <p:spPr>
          <a:xfrm>
            <a:off x="9210786" y="3420684"/>
            <a:ext cx="7809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48 Orte</a:t>
            </a:r>
          </a:p>
        </p:txBody>
      </p:sp>
      <p:pic>
        <p:nvPicPr>
          <p:cNvPr id="52" name="Grafik 51">
            <a:extLst>
              <a:ext uri="{FF2B5EF4-FFF2-40B4-BE49-F238E27FC236}">
                <a16:creationId xmlns:a16="http://schemas.microsoft.com/office/drawing/2014/main" id="{3C974A1A-22DE-F818-3924-B4F00CCAEB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6837" y="3930777"/>
            <a:ext cx="2309413" cy="2318295"/>
          </a:xfrm>
          <a:prstGeom prst="rect">
            <a:avLst/>
          </a:prstGeom>
          <a:effectLst>
            <a:outerShdw blurRad="190500" algn="ctr" rotWithShape="0">
              <a:srgbClr val="000000">
                <a:alpha val="70000"/>
              </a:srgbClr>
            </a:outerShdw>
          </a:effectLst>
        </p:spPr>
      </p:pic>
      <p:pic>
        <p:nvPicPr>
          <p:cNvPr id="57" name="Grafik 56">
            <a:extLst>
              <a:ext uri="{FF2B5EF4-FFF2-40B4-BE49-F238E27FC236}">
                <a16:creationId xmlns:a16="http://schemas.microsoft.com/office/drawing/2014/main" id="{7D80F620-3DD0-73C0-5B52-3DA879453C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3859" y="4731964"/>
            <a:ext cx="1616148" cy="1517108"/>
          </a:xfrm>
          <a:prstGeom prst="rect">
            <a:avLst/>
          </a:prstGeom>
          <a:effectLst>
            <a:outerShdw blurRad="190500" algn="ctr" rotWithShape="0">
              <a:srgbClr val="000000">
                <a:alpha val="70000"/>
              </a:srgbClr>
            </a:outerShdw>
          </a:effectLst>
        </p:spPr>
      </p:pic>
      <p:sp>
        <p:nvSpPr>
          <p:cNvPr id="61" name="Textfeld 60">
            <a:extLst>
              <a:ext uri="{FF2B5EF4-FFF2-40B4-BE49-F238E27FC236}">
                <a16:creationId xmlns:a16="http://schemas.microsoft.com/office/drawing/2014/main" id="{9C7067C9-AB68-4A8A-2D7B-0088F20912E5}"/>
              </a:ext>
            </a:extLst>
          </p:cNvPr>
          <p:cNvSpPr txBox="1"/>
          <p:nvPr/>
        </p:nvSpPr>
        <p:spPr>
          <a:xfrm>
            <a:off x="4164462" y="6327907"/>
            <a:ext cx="35349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https://boje-verbund.de/fastenmarsch2021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8042064C-5933-679B-47C8-8135580AC165}"/>
              </a:ext>
            </a:extLst>
          </p:cNvPr>
          <p:cNvSpPr txBox="1"/>
          <p:nvPr/>
        </p:nvSpPr>
        <p:spPr>
          <a:xfrm>
            <a:off x="8404174" y="6330354"/>
            <a:ext cx="24320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Spendensumme 21.292,91€</a:t>
            </a:r>
          </a:p>
        </p:txBody>
      </p:sp>
      <p:sp>
        <p:nvSpPr>
          <p:cNvPr id="67" name="Foliennummernplatzhalter 66">
            <a:extLst>
              <a:ext uri="{FF2B5EF4-FFF2-40B4-BE49-F238E27FC236}">
                <a16:creationId xmlns:a16="http://schemas.microsoft.com/office/drawing/2014/main" id="{0A63C981-E760-DD0B-4139-5BAD99BCB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5505" y="6321558"/>
            <a:ext cx="2844800" cy="365125"/>
          </a:xfrm>
        </p:spPr>
        <p:txBody>
          <a:bodyPr/>
          <a:lstStyle/>
          <a:p>
            <a:fld id="{325AC44C-5637-4567-8246-DE5937193314}" type="slidenum">
              <a:rPr lang="pl-PL" smtClean="0"/>
              <a:pPr/>
              <a:t>7</a:t>
            </a:fld>
            <a:endParaRPr lang="pl-PL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C84C201-53D5-6EA5-81AA-36BE3CDF443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9987" y="4727983"/>
            <a:ext cx="4077105" cy="1289229"/>
          </a:xfrm>
          <a:prstGeom prst="rect">
            <a:avLst/>
          </a:prstGeom>
          <a:effectLst>
            <a:outerShdw blurRad="190500" algn="ctr" rotWithShape="0">
              <a:srgbClr val="000000">
                <a:alpha val="70000"/>
              </a:srgbClr>
            </a:outerShdw>
          </a:effec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9DAA434F-5B97-DE87-C9E6-C14CD0EEDD8A}"/>
              </a:ext>
            </a:extLst>
          </p:cNvPr>
          <p:cNvSpPr txBox="1"/>
          <p:nvPr/>
        </p:nvSpPr>
        <p:spPr>
          <a:xfrm>
            <a:off x="486206" y="6086272"/>
            <a:ext cx="41646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Verpflichtung Sponsor*innen im Fastenmarschheft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1BFE135-6B86-698D-FD84-A010389F0E5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22335" y="111932"/>
            <a:ext cx="720130" cy="78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376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fik 15">
            <a:extLst>
              <a:ext uri="{FF2B5EF4-FFF2-40B4-BE49-F238E27FC236}">
                <a16:creationId xmlns:a16="http://schemas.microsoft.com/office/drawing/2014/main" id="{564255CB-9412-36AD-1444-8A380F7C4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472" y="2213592"/>
            <a:ext cx="1260665" cy="1431432"/>
          </a:xfrm>
          <a:prstGeom prst="rect">
            <a:avLst/>
          </a:prstGeom>
          <a:effectLst>
            <a:outerShdw blurRad="190500" algn="ctr" rotWithShape="0">
              <a:srgbClr val="000000">
                <a:alpha val="70000"/>
              </a:srgbClr>
            </a:outerShdw>
          </a:effectLst>
        </p:spPr>
      </p:pic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2207568" y="188640"/>
            <a:ext cx="8219256" cy="720080"/>
          </a:xfrm>
        </p:spPr>
        <p:txBody>
          <a:bodyPr>
            <a:noAutofit/>
          </a:bodyPr>
          <a:lstStyle/>
          <a:p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Fastenmarsch 2021</a:t>
            </a:r>
            <a:b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im nördlichen Emsland (2/2)</a:t>
            </a:r>
            <a:endParaRPr lang="pl-PL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20727F1-5F06-207A-C184-E1FCAF952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5918" y="3951331"/>
            <a:ext cx="1282009" cy="248228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683075D-CDF7-552D-6D76-7739F58BA8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0520" y="4079265"/>
            <a:ext cx="2066305" cy="1758171"/>
          </a:xfrm>
          <a:prstGeom prst="rect">
            <a:avLst/>
          </a:prstGeom>
          <a:effectLst>
            <a:outerShdw blurRad="190500" algn="ctr" rotWithShape="0">
              <a:srgbClr val="000000">
                <a:alpha val="70000"/>
              </a:srgbClr>
            </a:outerShdw>
          </a:effectLst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E1FE2AB3-0A00-6500-D69B-EF658EBEC1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1864" y="4356159"/>
            <a:ext cx="3226789" cy="1897423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1DFB9DBA-0116-B2FB-1891-870462E3EA59}"/>
              </a:ext>
            </a:extLst>
          </p:cNvPr>
          <p:cNvSpPr txBox="1"/>
          <p:nvPr/>
        </p:nvSpPr>
        <p:spPr>
          <a:xfrm>
            <a:off x="2790239" y="1088816"/>
            <a:ext cx="7178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Besuch in „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Düthe-Fresenburg-Melstrup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“ am </a:t>
            </a:r>
            <a:b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Sa. 20.02.2021 zwischen 15:30 – 15:40 Uhr, Zeitstempel 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CEA40CE6-5733-23FF-49E0-66CDB2CA56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1367" y="2220566"/>
            <a:ext cx="1260665" cy="1223587"/>
          </a:xfrm>
          <a:prstGeom prst="rect">
            <a:avLst/>
          </a:prstGeom>
          <a:effectLst>
            <a:outerShdw blurRad="190500" algn="ctr" rotWithShape="0">
              <a:srgbClr val="000000">
                <a:alpha val="70000"/>
              </a:srgbClr>
            </a:outerShdw>
          </a:effectLst>
        </p:spPr>
      </p:pic>
      <p:sp>
        <p:nvSpPr>
          <p:cNvPr id="21" name="Textfeld 20">
            <a:extLst>
              <a:ext uri="{FF2B5EF4-FFF2-40B4-BE49-F238E27FC236}">
                <a16:creationId xmlns:a16="http://schemas.microsoft.com/office/drawing/2014/main" id="{3E9B35DD-4160-41F7-E9FD-169D339047D5}"/>
              </a:ext>
            </a:extLst>
          </p:cNvPr>
          <p:cNvSpPr txBox="1"/>
          <p:nvPr/>
        </p:nvSpPr>
        <p:spPr>
          <a:xfrm>
            <a:off x="6445214" y="2186543"/>
            <a:ext cx="440331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Gerne kannst du den QR-Code scannen, um den Ort „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Düthe-Fresenburg-Melstrup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“ virtuell zu besuchen.</a:t>
            </a:r>
            <a:b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Als Zeitstempel wird              angezeigt, da der Zugriff außerhalb des Aktionszeitraums liegt.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74AC808B-988E-8DD8-30AA-8068AD412D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9983" y="2772334"/>
            <a:ext cx="577617" cy="336334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9937CEE1-3512-F7A3-5AB6-01316AD7B1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232" y="1354269"/>
            <a:ext cx="642521" cy="351145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0F6EA2A5-0C14-AF0A-168B-6ECEA7AF1488}"/>
              </a:ext>
            </a:extLst>
          </p:cNvPr>
          <p:cNvSpPr txBox="1"/>
          <p:nvPr/>
        </p:nvSpPr>
        <p:spPr>
          <a:xfrm>
            <a:off x="982296" y="3742715"/>
            <a:ext cx="158703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Ort über Adresse </a:t>
            </a:r>
          </a:p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oder Navigation </a:t>
            </a:r>
          </a:p>
          <a:p>
            <a:pPr algn="ctr"/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finden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608B7E37-D99D-9644-B833-FC15767B8DC8}"/>
              </a:ext>
            </a:extLst>
          </p:cNvPr>
          <p:cNvSpPr txBox="1"/>
          <p:nvPr/>
        </p:nvSpPr>
        <p:spPr>
          <a:xfrm>
            <a:off x="4614494" y="3556044"/>
            <a:ext cx="15688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vor Ort den </a:t>
            </a:r>
          </a:p>
          <a:p>
            <a:pPr algn="ctr"/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QR-Code  scannen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B2B4EF73-AEF0-31A7-1B5E-5EADD6DCB64C}"/>
              </a:ext>
            </a:extLst>
          </p:cNvPr>
          <p:cNvSpPr txBox="1"/>
          <p:nvPr/>
        </p:nvSpPr>
        <p:spPr>
          <a:xfrm>
            <a:off x="3855146" y="6361584"/>
            <a:ext cx="4505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Auf dem Smartphone angezeigter Zeitstempel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FB933A53-D3E1-7A73-FC7E-F35A8D5841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8515" y="6346385"/>
            <a:ext cx="642521" cy="351145"/>
          </a:xfrm>
          <a:prstGeom prst="rect">
            <a:avLst/>
          </a:prstGeom>
        </p:spPr>
      </p:pic>
      <p:sp>
        <p:nvSpPr>
          <p:cNvPr id="32" name="Textfeld 31">
            <a:extLst>
              <a:ext uri="{FF2B5EF4-FFF2-40B4-BE49-F238E27FC236}">
                <a16:creationId xmlns:a16="http://schemas.microsoft.com/office/drawing/2014/main" id="{826D6DD6-397E-1190-29F7-6F04BE11BD78}"/>
              </a:ext>
            </a:extLst>
          </p:cNvPr>
          <p:cNvSpPr txBox="1"/>
          <p:nvPr/>
        </p:nvSpPr>
        <p:spPr>
          <a:xfrm>
            <a:off x="8336856" y="6047957"/>
            <a:ext cx="2177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Eintrag im </a:t>
            </a:r>
            <a:b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Fastenmarschheft 2021</a:t>
            </a: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E35E37E7-EDA4-A263-A47B-0188585AD4FA}"/>
              </a:ext>
            </a:extLst>
          </p:cNvPr>
          <p:cNvCxnSpPr>
            <a:cxnSpLocks/>
          </p:cNvCxnSpPr>
          <p:nvPr/>
        </p:nvCxnSpPr>
        <p:spPr>
          <a:xfrm>
            <a:off x="3071664" y="2708920"/>
            <a:ext cx="1615226" cy="187220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737CE95F-153D-592A-C7ED-98BED2801F15}"/>
              </a:ext>
            </a:extLst>
          </p:cNvPr>
          <p:cNvCxnSpPr>
            <a:cxnSpLocks/>
          </p:cNvCxnSpPr>
          <p:nvPr/>
        </p:nvCxnSpPr>
        <p:spPr>
          <a:xfrm>
            <a:off x="4462032" y="6725700"/>
            <a:ext cx="509035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>
            <a:extLst>
              <a:ext uri="{FF2B5EF4-FFF2-40B4-BE49-F238E27FC236}">
                <a16:creationId xmlns:a16="http://schemas.microsoft.com/office/drawing/2014/main" id="{EA17EBD0-6EDD-7CF2-338C-4F0893A32D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22335" y="111932"/>
            <a:ext cx="720130" cy="783756"/>
          </a:xfrm>
          <a:prstGeom prst="rect">
            <a:avLst/>
          </a:prstGeom>
        </p:spPr>
      </p:pic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8A17322B-EA08-5921-9957-150445B48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AC44C-5637-4567-8246-DE5937193314}" type="slidenum">
              <a:rPr lang="pl-PL" smtClean="0"/>
              <a:pPr/>
              <a:t>8</a:t>
            </a:fld>
            <a:endParaRPr lang="pl-PL"/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FD8C305E-03DA-D942-6015-EC779CBEB6C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620" y="1881879"/>
            <a:ext cx="1428949" cy="1571844"/>
          </a:xfrm>
          <a:prstGeom prst="rect">
            <a:avLst/>
          </a:prstGeom>
          <a:effectLst>
            <a:outerShdw blurRad="190500" algn="ctr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99663429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ae0ae48-b5e0-4928-b803-7a05142b132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4A1469256680649A4A1D399F286AF8B" ma:contentTypeVersion="18" ma:contentTypeDescription="Ein neues Dokument erstellen." ma:contentTypeScope="" ma:versionID="f44565e37c1c97f5d72ab976b1a8b51a">
  <xsd:schema xmlns:xsd="http://www.w3.org/2001/XMLSchema" xmlns:xs="http://www.w3.org/2001/XMLSchema" xmlns:p="http://schemas.microsoft.com/office/2006/metadata/properties" xmlns:ns3="9ae0ae48-b5e0-4928-b803-7a05142b1325" xmlns:ns4="7cbeec0a-6b4c-4617-ba11-1bd707c3d96f" targetNamespace="http://schemas.microsoft.com/office/2006/metadata/properties" ma:root="true" ma:fieldsID="ccb02ace03e9b1cba4578231afffb526" ns3:_="" ns4:_="">
    <xsd:import namespace="9ae0ae48-b5e0-4928-b803-7a05142b1325"/>
    <xsd:import namespace="7cbeec0a-6b4c-4617-ba11-1bd707c3d96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e0ae48-b5e0-4928-b803-7a05142b13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beec0a-6b4c-4617-ba11-1bd707c3d96f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2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9DAAED2-E672-4EE0-A834-A83C77B3D754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7cbeec0a-6b4c-4617-ba11-1bd707c3d96f"/>
    <ds:schemaRef ds:uri="http://purl.org/dc/terms/"/>
    <ds:schemaRef ds:uri="9ae0ae48-b5e0-4928-b803-7a05142b1325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9F44DBA-CBAF-4BA2-988F-9B86252796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e0ae48-b5e0-4928-b803-7a05142b1325"/>
    <ds:schemaRef ds:uri="7cbeec0a-6b4c-4617-ba11-1bd707c3d9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EB8A972-399E-4ABF-A4A6-0DEDDB4F4E5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13de251-44b3-4bb3-a19d-4c877c7e086f}" enabled="1" method="Standard" siteId="{9f116872-017b-4051-9e9e-3679e78fb59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987</Words>
  <Application>Microsoft Office PowerPoint</Application>
  <PresentationFormat>Breitbild</PresentationFormat>
  <Paragraphs>97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1" baseType="lpstr">
      <vt:lpstr>Arial</vt:lpstr>
      <vt:lpstr>Calibri</vt:lpstr>
      <vt:lpstr>Motyw pakietu Office</vt:lpstr>
      <vt:lpstr>PowerPoint-Präsentation</vt:lpstr>
      <vt:lpstr>So ging es 2021 - Anleitung für Teilnehmer</vt:lpstr>
      <vt:lpstr>Screenshots https://qr.lima.zone</vt:lpstr>
      <vt:lpstr>Weitere Details – für das Organisationsteam</vt:lpstr>
      <vt:lpstr>Benötigte Komponenten (1/2)</vt:lpstr>
      <vt:lpstr>Benötigte Komponenten (2/2)</vt:lpstr>
      <vt:lpstr>Fastenmarsch 2021 im nördlichen Emsland (1/2)</vt:lpstr>
      <vt:lpstr>Fastenmarsch 2021 im nördlichen Emsland (2/2)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 Ehrenamt in Deutschland und Polen- ein Vergleich.</dc:title>
  <dc:creator>regge</dc:creator>
  <cp:lastModifiedBy>Heinrich Ahrens</cp:lastModifiedBy>
  <cp:revision>133</cp:revision>
  <dcterms:created xsi:type="dcterms:W3CDTF">2014-05-08T15:20:06Z</dcterms:created>
  <dcterms:modified xsi:type="dcterms:W3CDTF">2024-11-09T08:57:29Z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0x01010044A1469256680649A4A1D399F286AF8B</vt:lpwstr>
  </property>
</Properties>
</file>